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omic Sans" panose="020B0604020202020204" charset="0"/>
      <p:regular r:id="rId12"/>
    </p:embeddedFont>
    <p:embeddedFont>
      <p:font typeface="Comic Sans Bold" panose="020B0604020202020204" charset="0"/>
      <p:regular r:id="rId13"/>
    </p:embeddedFont>
    <p:embeddedFont>
      <p:font typeface="Milk Tea Font TH Bold" panose="020B0604020202020204" charset="-3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61317">
            <a:off x="11109761" y="4116206"/>
            <a:ext cx="3585633" cy="3109722"/>
          </a:xfrm>
          <a:custGeom>
            <a:avLst/>
            <a:gdLst/>
            <a:ahLst/>
            <a:cxnLst/>
            <a:rect l="l" t="t" r="r" b="b"/>
            <a:pathLst>
              <a:path w="3585633" h="3109722">
                <a:moveTo>
                  <a:pt x="0" y="0"/>
                </a:moveTo>
                <a:lnTo>
                  <a:pt x="3585633" y="0"/>
                </a:lnTo>
                <a:lnTo>
                  <a:pt x="3585633" y="3109722"/>
                </a:lnTo>
                <a:lnTo>
                  <a:pt x="0" y="31097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9600787" y="240233"/>
            <a:ext cx="3301791" cy="3350525"/>
          </a:xfrm>
          <a:custGeom>
            <a:avLst/>
            <a:gdLst/>
            <a:ahLst/>
            <a:cxnLst/>
            <a:rect l="l" t="t" r="r" b="b"/>
            <a:pathLst>
              <a:path w="3301791" h="3350525">
                <a:moveTo>
                  <a:pt x="0" y="0"/>
                </a:moveTo>
                <a:lnTo>
                  <a:pt x="3301790" y="0"/>
                </a:lnTo>
                <a:lnTo>
                  <a:pt x="3301790" y="3350526"/>
                </a:lnTo>
                <a:lnTo>
                  <a:pt x="0" y="33505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rot="-4908679">
            <a:off x="15095637" y="3039775"/>
            <a:ext cx="5228630" cy="3412870"/>
          </a:xfrm>
          <a:custGeom>
            <a:avLst/>
            <a:gdLst/>
            <a:ahLst/>
            <a:cxnLst/>
            <a:rect l="l" t="t" r="r" b="b"/>
            <a:pathLst>
              <a:path w="5228630" h="3412870">
                <a:moveTo>
                  <a:pt x="0" y="0"/>
                </a:moveTo>
                <a:lnTo>
                  <a:pt x="5228630" y="0"/>
                </a:lnTo>
                <a:lnTo>
                  <a:pt x="5228630" y="3412870"/>
                </a:lnTo>
                <a:lnTo>
                  <a:pt x="0" y="34128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14256231" y="1585491"/>
            <a:ext cx="3453721" cy="2919964"/>
          </a:xfrm>
          <a:custGeom>
            <a:avLst/>
            <a:gdLst/>
            <a:ahLst/>
            <a:cxnLst/>
            <a:rect l="l" t="t" r="r" b="b"/>
            <a:pathLst>
              <a:path w="3453721" h="2919964">
                <a:moveTo>
                  <a:pt x="0" y="0"/>
                </a:moveTo>
                <a:lnTo>
                  <a:pt x="3453721" y="0"/>
                </a:lnTo>
                <a:lnTo>
                  <a:pt x="3453721" y="2919964"/>
                </a:lnTo>
                <a:lnTo>
                  <a:pt x="0" y="29199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 rot="808501">
            <a:off x="14256231" y="6451358"/>
            <a:ext cx="3453721" cy="3466325"/>
          </a:xfrm>
          <a:custGeom>
            <a:avLst/>
            <a:gdLst/>
            <a:ahLst/>
            <a:cxnLst/>
            <a:rect l="l" t="t" r="r" b="b"/>
            <a:pathLst>
              <a:path w="3453721" h="3466325">
                <a:moveTo>
                  <a:pt x="0" y="0"/>
                </a:moveTo>
                <a:lnTo>
                  <a:pt x="3453721" y="0"/>
                </a:lnTo>
                <a:lnTo>
                  <a:pt x="3453721" y="3466325"/>
                </a:lnTo>
                <a:lnTo>
                  <a:pt x="0" y="34663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 rot="-1327014">
            <a:off x="8792620" y="6976289"/>
            <a:ext cx="2925279" cy="3724314"/>
          </a:xfrm>
          <a:custGeom>
            <a:avLst/>
            <a:gdLst/>
            <a:ahLst/>
            <a:cxnLst/>
            <a:rect l="l" t="t" r="r" b="b"/>
            <a:pathLst>
              <a:path w="2925279" h="3724314">
                <a:moveTo>
                  <a:pt x="0" y="0"/>
                </a:moveTo>
                <a:lnTo>
                  <a:pt x="2925279" y="0"/>
                </a:lnTo>
                <a:lnTo>
                  <a:pt x="2925279" y="3724314"/>
                </a:lnTo>
                <a:lnTo>
                  <a:pt x="0" y="3724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8" name="Group 8"/>
          <p:cNvGrpSpPr/>
          <p:nvPr/>
        </p:nvGrpSpPr>
        <p:grpSpPr>
          <a:xfrm>
            <a:off x="-753513" y="6769381"/>
            <a:ext cx="9717325" cy="891107"/>
            <a:chOff x="0" y="0"/>
            <a:chExt cx="4431705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31705" cy="406400"/>
            </a:xfrm>
            <a:custGeom>
              <a:avLst/>
              <a:gdLst/>
              <a:ahLst/>
              <a:cxnLst/>
              <a:rect l="l" t="t" r="r" b="b"/>
              <a:pathLst>
                <a:path w="4431705" h="406400">
                  <a:moveTo>
                    <a:pt x="4228505" y="0"/>
                  </a:moveTo>
                  <a:cubicBezTo>
                    <a:pt x="4340729" y="0"/>
                    <a:pt x="4431705" y="90976"/>
                    <a:pt x="4431705" y="203200"/>
                  </a:cubicBezTo>
                  <a:cubicBezTo>
                    <a:pt x="4431705" y="315424"/>
                    <a:pt x="4340729" y="406400"/>
                    <a:pt x="422850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9B347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43170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2390680"/>
            <a:ext cx="8786859" cy="260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21"/>
              </a:lnSpc>
            </a:pPr>
            <a:r>
              <a:rPr lang="en-US" sz="8600" b="1">
                <a:solidFill>
                  <a:srgbClr val="144778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Recommendation </a:t>
            </a:r>
          </a:p>
          <a:p>
            <a:pPr algn="ctr">
              <a:lnSpc>
                <a:spcPts val="10321"/>
              </a:lnSpc>
              <a:spcBef>
                <a:spcPct val="0"/>
              </a:spcBef>
            </a:pPr>
            <a:r>
              <a:rPr lang="en-US" sz="8600" b="1">
                <a:solidFill>
                  <a:srgbClr val="144778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systems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41320" y="6967271"/>
            <a:ext cx="6257826" cy="440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1"/>
              </a:lnSpc>
              <a:spcBef>
                <a:spcPct val="0"/>
              </a:spcBef>
            </a:pPr>
            <a:r>
              <a:rPr lang="en-US" sz="2943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prepaired by Layousa and Zarlasht</a:t>
            </a:r>
          </a:p>
        </p:txBody>
      </p:sp>
      <p:sp>
        <p:nvSpPr>
          <p:cNvPr id="13" name="Freeform 13"/>
          <p:cNvSpPr/>
          <p:nvPr/>
        </p:nvSpPr>
        <p:spPr>
          <a:xfrm rot="9792378">
            <a:off x="1410237" y="-1466202"/>
            <a:ext cx="5228630" cy="3412870"/>
          </a:xfrm>
          <a:custGeom>
            <a:avLst/>
            <a:gdLst/>
            <a:ahLst/>
            <a:cxnLst/>
            <a:rect l="l" t="t" r="r" b="b"/>
            <a:pathLst>
              <a:path w="5228630" h="3412870">
                <a:moveTo>
                  <a:pt x="0" y="0"/>
                </a:moveTo>
                <a:lnTo>
                  <a:pt x="5228631" y="0"/>
                </a:lnTo>
                <a:lnTo>
                  <a:pt x="5228631" y="3412870"/>
                </a:lnTo>
                <a:lnTo>
                  <a:pt x="0" y="34128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4" name="Freeform 14"/>
          <p:cNvSpPr/>
          <p:nvPr/>
        </p:nvSpPr>
        <p:spPr>
          <a:xfrm rot="-965020">
            <a:off x="3552064" y="8491071"/>
            <a:ext cx="4580617" cy="2989894"/>
          </a:xfrm>
          <a:custGeom>
            <a:avLst/>
            <a:gdLst/>
            <a:ahLst/>
            <a:cxnLst/>
            <a:rect l="l" t="t" r="r" b="b"/>
            <a:pathLst>
              <a:path w="4580617" h="2989894">
                <a:moveTo>
                  <a:pt x="0" y="0"/>
                </a:moveTo>
                <a:lnTo>
                  <a:pt x="4580617" y="0"/>
                </a:lnTo>
                <a:lnTo>
                  <a:pt x="4580617" y="2989894"/>
                </a:lnTo>
                <a:lnTo>
                  <a:pt x="0" y="2989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80527">
            <a:off x="13929225" y="6102733"/>
            <a:ext cx="4656667" cy="4114800"/>
          </a:xfrm>
          <a:custGeom>
            <a:avLst/>
            <a:gdLst/>
            <a:ahLst/>
            <a:cxnLst/>
            <a:rect l="l" t="t" r="r" b="b"/>
            <a:pathLst>
              <a:path w="4656667" h="4114800">
                <a:moveTo>
                  <a:pt x="0" y="0"/>
                </a:moveTo>
                <a:lnTo>
                  <a:pt x="4656666" y="0"/>
                </a:lnTo>
                <a:lnTo>
                  <a:pt x="46566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rot="1146224">
            <a:off x="-698418" y="95113"/>
            <a:ext cx="4429759" cy="4445926"/>
          </a:xfrm>
          <a:custGeom>
            <a:avLst/>
            <a:gdLst/>
            <a:ahLst/>
            <a:cxnLst/>
            <a:rect l="l" t="t" r="r" b="b"/>
            <a:pathLst>
              <a:path w="4429759" h="4445926">
                <a:moveTo>
                  <a:pt x="0" y="0"/>
                </a:moveTo>
                <a:lnTo>
                  <a:pt x="4429760" y="0"/>
                </a:lnTo>
                <a:lnTo>
                  <a:pt x="4429760" y="4445926"/>
                </a:lnTo>
                <a:lnTo>
                  <a:pt x="0" y="44459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rot="-8216474">
            <a:off x="14075776" y="-340813"/>
            <a:ext cx="5921523" cy="3865139"/>
          </a:xfrm>
          <a:custGeom>
            <a:avLst/>
            <a:gdLst/>
            <a:ahLst/>
            <a:cxnLst/>
            <a:rect l="l" t="t" r="r" b="b"/>
            <a:pathLst>
              <a:path w="5921523" h="3865139">
                <a:moveTo>
                  <a:pt x="0" y="0"/>
                </a:moveTo>
                <a:lnTo>
                  <a:pt x="5921523" y="0"/>
                </a:lnTo>
                <a:lnTo>
                  <a:pt x="5921523" y="3865139"/>
                </a:lnTo>
                <a:lnTo>
                  <a:pt x="0" y="3865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 rot="1936199">
            <a:off x="-1800462" y="6698498"/>
            <a:ext cx="5921523" cy="3865139"/>
          </a:xfrm>
          <a:custGeom>
            <a:avLst/>
            <a:gdLst/>
            <a:ahLst/>
            <a:cxnLst/>
            <a:rect l="l" t="t" r="r" b="b"/>
            <a:pathLst>
              <a:path w="5921523" h="3865139">
                <a:moveTo>
                  <a:pt x="0" y="0"/>
                </a:moveTo>
                <a:lnTo>
                  <a:pt x="5921523" y="0"/>
                </a:lnTo>
                <a:lnTo>
                  <a:pt x="5921523" y="3865139"/>
                </a:lnTo>
                <a:lnTo>
                  <a:pt x="0" y="3865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13813921" y="3794639"/>
            <a:ext cx="831840" cy="842564"/>
          </a:xfrm>
          <a:custGeom>
            <a:avLst/>
            <a:gdLst/>
            <a:ahLst/>
            <a:cxnLst/>
            <a:rect l="l" t="t" r="r" b="b"/>
            <a:pathLst>
              <a:path w="831840" h="842564">
                <a:moveTo>
                  <a:pt x="0" y="0"/>
                </a:moveTo>
                <a:lnTo>
                  <a:pt x="831841" y="0"/>
                </a:lnTo>
                <a:lnTo>
                  <a:pt x="831841" y="842564"/>
                </a:lnTo>
                <a:lnTo>
                  <a:pt x="0" y="842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>
            <a:off x="3505053" y="6015364"/>
            <a:ext cx="831840" cy="842564"/>
          </a:xfrm>
          <a:custGeom>
            <a:avLst/>
            <a:gdLst/>
            <a:ahLst/>
            <a:cxnLst/>
            <a:rect l="l" t="t" r="r" b="b"/>
            <a:pathLst>
              <a:path w="831840" h="842564">
                <a:moveTo>
                  <a:pt x="0" y="0"/>
                </a:moveTo>
                <a:lnTo>
                  <a:pt x="831840" y="0"/>
                </a:lnTo>
                <a:lnTo>
                  <a:pt x="831840" y="842565"/>
                </a:lnTo>
                <a:lnTo>
                  <a:pt x="0" y="8425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TextBox 8"/>
          <p:cNvSpPr txBox="1"/>
          <p:nvPr/>
        </p:nvSpPr>
        <p:spPr>
          <a:xfrm>
            <a:off x="3920973" y="2267114"/>
            <a:ext cx="10038254" cy="3745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38"/>
              </a:lnSpc>
              <a:spcBef>
                <a:spcPct val="0"/>
              </a:spcBef>
            </a:pPr>
            <a:r>
              <a:rPr lang="en-US" sz="8198" b="1">
                <a:solidFill>
                  <a:srgbClr val="144778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The Secret Behind Recommendation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9739" y="569294"/>
            <a:ext cx="3276877" cy="4114800"/>
          </a:xfrm>
          <a:custGeom>
            <a:avLst/>
            <a:gdLst/>
            <a:ahLst/>
            <a:cxnLst/>
            <a:rect l="l" t="t" r="r" b="b"/>
            <a:pathLst>
              <a:path w="3276877" h="4114800">
                <a:moveTo>
                  <a:pt x="0" y="0"/>
                </a:moveTo>
                <a:lnTo>
                  <a:pt x="3276878" y="0"/>
                </a:lnTo>
                <a:lnTo>
                  <a:pt x="32768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3982225" y="7336118"/>
            <a:ext cx="4488944" cy="3150423"/>
          </a:xfrm>
          <a:custGeom>
            <a:avLst/>
            <a:gdLst/>
            <a:ahLst/>
            <a:cxnLst/>
            <a:rect l="l" t="t" r="r" b="b"/>
            <a:pathLst>
              <a:path w="4488944" h="3150423">
                <a:moveTo>
                  <a:pt x="0" y="0"/>
                </a:moveTo>
                <a:lnTo>
                  <a:pt x="4488944" y="0"/>
                </a:lnTo>
                <a:lnTo>
                  <a:pt x="4488944" y="3150423"/>
                </a:lnTo>
                <a:lnTo>
                  <a:pt x="0" y="3150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TextBox 4"/>
          <p:cNvSpPr txBox="1"/>
          <p:nvPr/>
        </p:nvSpPr>
        <p:spPr>
          <a:xfrm>
            <a:off x="2099090" y="3895779"/>
            <a:ext cx="13943324" cy="302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1"/>
              </a:lnSpc>
            </a:pPr>
            <a:r>
              <a:rPr lang="en-US" sz="6659" b="1">
                <a:solidFill>
                  <a:srgbClr val="144778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How AI predicts what users may want next?</a:t>
            </a:r>
          </a:p>
          <a:p>
            <a:pPr algn="ctr">
              <a:lnSpc>
                <a:spcPts val="7991"/>
              </a:lnSpc>
              <a:spcBef>
                <a:spcPct val="0"/>
              </a:spcBef>
            </a:pPr>
            <a:endParaRPr lang="en-US" sz="6659" b="1">
              <a:solidFill>
                <a:srgbClr val="144778"/>
              </a:solidFill>
              <a:latin typeface="Milk Tea Font TH Bold"/>
              <a:ea typeface="Milk Tea Font TH Bold"/>
              <a:cs typeface="Milk Tea Font TH Bold"/>
              <a:sym typeface="Milk Tea Font TH Bold"/>
            </a:endParaRPr>
          </a:p>
        </p:txBody>
      </p:sp>
      <p:sp>
        <p:nvSpPr>
          <p:cNvPr id="5" name="Freeform 5"/>
          <p:cNvSpPr/>
          <p:nvPr/>
        </p:nvSpPr>
        <p:spPr>
          <a:xfrm rot="-2248139">
            <a:off x="13414607" y="7570223"/>
            <a:ext cx="5921523" cy="3865139"/>
          </a:xfrm>
          <a:custGeom>
            <a:avLst/>
            <a:gdLst/>
            <a:ahLst/>
            <a:cxnLst/>
            <a:rect l="l" t="t" r="r" b="b"/>
            <a:pathLst>
              <a:path w="5921523" h="3865139">
                <a:moveTo>
                  <a:pt x="0" y="0"/>
                </a:moveTo>
                <a:lnTo>
                  <a:pt x="5921523" y="0"/>
                </a:lnTo>
                <a:lnTo>
                  <a:pt x="5921523" y="3865140"/>
                </a:lnTo>
                <a:lnTo>
                  <a:pt x="0" y="3865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 rot="9607066">
            <a:off x="5124323" y="-1245175"/>
            <a:ext cx="5226998" cy="3411804"/>
          </a:xfrm>
          <a:custGeom>
            <a:avLst/>
            <a:gdLst/>
            <a:ahLst/>
            <a:cxnLst/>
            <a:rect l="l" t="t" r="r" b="b"/>
            <a:pathLst>
              <a:path w="5226998" h="3411804">
                <a:moveTo>
                  <a:pt x="0" y="0"/>
                </a:moveTo>
                <a:lnTo>
                  <a:pt x="5226998" y="0"/>
                </a:lnTo>
                <a:lnTo>
                  <a:pt x="5226998" y="3411804"/>
                </a:lnTo>
                <a:lnTo>
                  <a:pt x="0" y="34118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>
            <a:off x="1683170" y="7651688"/>
            <a:ext cx="831840" cy="842564"/>
          </a:xfrm>
          <a:custGeom>
            <a:avLst/>
            <a:gdLst/>
            <a:ahLst/>
            <a:cxnLst/>
            <a:rect l="l" t="t" r="r" b="b"/>
            <a:pathLst>
              <a:path w="831840" h="842564">
                <a:moveTo>
                  <a:pt x="0" y="0"/>
                </a:moveTo>
                <a:lnTo>
                  <a:pt x="831840" y="0"/>
                </a:lnTo>
                <a:lnTo>
                  <a:pt x="831840" y="842564"/>
                </a:lnTo>
                <a:lnTo>
                  <a:pt x="0" y="842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Freeform 8"/>
          <p:cNvSpPr/>
          <p:nvPr/>
        </p:nvSpPr>
        <p:spPr>
          <a:xfrm>
            <a:off x="15426648" y="1651834"/>
            <a:ext cx="831840" cy="842564"/>
          </a:xfrm>
          <a:custGeom>
            <a:avLst/>
            <a:gdLst/>
            <a:ahLst/>
            <a:cxnLst/>
            <a:rect l="l" t="t" r="r" b="b"/>
            <a:pathLst>
              <a:path w="831840" h="842564">
                <a:moveTo>
                  <a:pt x="0" y="0"/>
                </a:moveTo>
                <a:lnTo>
                  <a:pt x="831840" y="0"/>
                </a:lnTo>
                <a:lnTo>
                  <a:pt x="831840" y="842564"/>
                </a:lnTo>
                <a:lnTo>
                  <a:pt x="0" y="842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20893" y="2106800"/>
            <a:ext cx="6129118" cy="6073399"/>
          </a:xfrm>
          <a:custGeom>
            <a:avLst/>
            <a:gdLst/>
            <a:ahLst/>
            <a:cxnLst/>
            <a:rect l="l" t="t" r="r" b="b"/>
            <a:pathLst>
              <a:path w="6129118" h="6073399">
                <a:moveTo>
                  <a:pt x="0" y="0"/>
                </a:moveTo>
                <a:lnTo>
                  <a:pt x="6129118" y="0"/>
                </a:lnTo>
                <a:lnTo>
                  <a:pt x="6129118" y="6073400"/>
                </a:lnTo>
                <a:lnTo>
                  <a:pt x="0" y="6073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558860" y="1210614"/>
            <a:ext cx="10511578" cy="375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38"/>
              </a:lnSpc>
              <a:spcBef>
                <a:spcPct val="0"/>
              </a:spcBef>
            </a:pPr>
            <a:r>
              <a:rPr lang="en-US" sz="8198" b="1">
                <a:solidFill>
                  <a:srgbClr val="144778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What Is a Recommendation System?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8860" y="5519857"/>
            <a:ext cx="9652486" cy="266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1"/>
              </a:lnSpc>
            </a:pPr>
            <a:r>
              <a:rPr lang="en-US" sz="3211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•Technology that predicts what users may watch, buy, or explore</a:t>
            </a:r>
          </a:p>
          <a:p>
            <a:pPr algn="l">
              <a:lnSpc>
                <a:spcPts val="5331"/>
              </a:lnSpc>
            </a:pPr>
            <a:r>
              <a:rPr lang="en-US" sz="3211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•Used by YouTube, Netflix, Amazon, Spotify</a:t>
            </a:r>
          </a:p>
          <a:p>
            <a:pPr algn="l">
              <a:lnSpc>
                <a:spcPts val="5331"/>
              </a:lnSpc>
            </a:pPr>
            <a:endParaRPr lang="en-US" sz="3211" b="1">
              <a:solidFill>
                <a:srgbClr val="000000"/>
              </a:solidFill>
              <a:latin typeface="Comic Sans Bold"/>
              <a:ea typeface="Comic Sans Bold"/>
              <a:cs typeface="Comic Sans Bold"/>
              <a:sym typeface="Comic Sans Bold"/>
            </a:endParaRPr>
          </a:p>
        </p:txBody>
      </p:sp>
      <p:sp>
        <p:nvSpPr>
          <p:cNvPr id="5" name="Freeform 5"/>
          <p:cNvSpPr/>
          <p:nvPr/>
        </p:nvSpPr>
        <p:spPr>
          <a:xfrm rot="10169055">
            <a:off x="6959048" y="-1281236"/>
            <a:ext cx="5921523" cy="3865139"/>
          </a:xfrm>
          <a:custGeom>
            <a:avLst/>
            <a:gdLst/>
            <a:ahLst/>
            <a:cxnLst/>
            <a:rect l="l" t="t" r="r" b="b"/>
            <a:pathLst>
              <a:path w="5921523" h="3865139">
                <a:moveTo>
                  <a:pt x="0" y="0"/>
                </a:moveTo>
                <a:lnTo>
                  <a:pt x="5921523" y="0"/>
                </a:lnTo>
                <a:lnTo>
                  <a:pt x="5921523" y="3865139"/>
                </a:lnTo>
                <a:lnTo>
                  <a:pt x="0" y="3865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 rot="-694051">
            <a:off x="14874423" y="8254863"/>
            <a:ext cx="4769753" cy="3113348"/>
          </a:xfrm>
          <a:custGeom>
            <a:avLst/>
            <a:gdLst/>
            <a:ahLst/>
            <a:cxnLst/>
            <a:rect l="l" t="t" r="r" b="b"/>
            <a:pathLst>
              <a:path w="4769753" h="3113348">
                <a:moveTo>
                  <a:pt x="0" y="0"/>
                </a:moveTo>
                <a:lnTo>
                  <a:pt x="4769754" y="0"/>
                </a:lnTo>
                <a:lnTo>
                  <a:pt x="4769754" y="3113348"/>
                </a:lnTo>
                <a:lnTo>
                  <a:pt x="0" y="31133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>
            <a:off x="8104718" y="8837018"/>
            <a:ext cx="831840" cy="842564"/>
          </a:xfrm>
          <a:custGeom>
            <a:avLst/>
            <a:gdLst/>
            <a:ahLst/>
            <a:cxnLst/>
            <a:rect l="l" t="t" r="r" b="b"/>
            <a:pathLst>
              <a:path w="831840" h="842564">
                <a:moveTo>
                  <a:pt x="0" y="0"/>
                </a:moveTo>
                <a:lnTo>
                  <a:pt x="831841" y="0"/>
                </a:lnTo>
                <a:lnTo>
                  <a:pt x="831841" y="842564"/>
                </a:lnTo>
                <a:lnTo>
                  <a:pt x="0" y="842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Freeform 8"/>
          <p:cNvSpPr/>
          <p:nvPr/>
        </p:nvSpPr>
        <p:spPr>
          <a:xfrm>
            <a:off x="16034091" y="1685518"/>
            <a:ext cx="831840" cy="842564"/>
          </a:xfrm>
          <a:custGeom>
            <a:avLst/>
            <a:gdLst/>
            <a:ahLst/>
            <a:cxnLst/>
            <a:rect l="l" t="t" r="r" b="b"/>
            <a:pathLst>
              <a:path w="831840" h="842564">
                <a:moveTo>
                  <a:pt x="0" y="0"/>
                </a:moveTo>
                <a:lnTo>
                  <a:pt x="831840" y="0"/>
                </a:lnTo>
                <a:lnTo>
                  <a:pt x="831840" y="842564"/>
                </a:lnTo>
                <a:lnTo>
                  <a:pt x="0" y="842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216474">
            <a:off x="14075776" y="-340813"/>
            <a:ext cx="5921523" cy="3865139"/>
          </a:xfrm>
          <a:custGeom>
            <a:avLst/>
            <a:gdLst/>
            <a:ahLst/>
            <a:cxnLst/>
            <a:rect l="l" t="t" r="r" b="b"/>
            <a:pathLst>
              <a:path w="5921523" h="3865139">
                <a:moveTo>
                  <a:pt x="0" y="0"/>
                </a:moveTo>
                <a:lnTo>
                  <a:pt x="5921523" y="0"/>
                </a:lnTo>
                <a:lnTo>
                  <a:pt x="5921523" y="3865139"/>
                </a:lnTo>
                <a:lnTo>
                  <a:pt x="0" y="3865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rot="1936199">
            <a:off x="-1800462" y="6698498"/>
            <a:ext cx="5921523" cy="3865139"/>
          </a:xfrm>
          <a:custGeom>
            <a:avLst/>
            <a:gdLst/>
            <a:ahLst/>
            <a:cxnLst/>
            <a:rect l="l" t="t" r="r" b="b"/>
            <a:pathLst>
              <a:path w="5921523" h="3865139">
                <a:moveTo>
                  <a:pt x="0" y="0"/>
                </a:moveTo>
                <a:lnTo>
                  <a:pt x="5921523" y="0"/>
                </a:lnTo>
                <a:lnTo>
                  <a:pt x="5921523" y="3865139"/>
                </a:lnTo>
                <a:lnTo>
                  <a:pt x="0" y="3865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13813921" y="3794639"/>
            <a:ext cx="831840" cy="842564"/>
          </a:xfrm>
          <a:custGeom>
            <a:avLst/>
            <a:gdLst/>
            <a:ahLst/>
            <a:cxnLst/>
            <a:rect l="l" t="t" r="r" b="b"/>
            <a:pathLst>
              <a:path w="831840" h="842564">
                <a:moveTo>
                  <a:pt x="0" y="0"/>
                </a:moveTo>
                <a:lnTo>
                  <a:pt x="831841" y="0"/>
                </a:lnTo>
                <a:lnTo>
                  <a:pt x="831841" y="842564"/>
                </a:lnTo>
                <a:lnTo>
                  <a:pt x="0" y="842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3505053" y="6015364"/>
            <a:ext cx="831840" cy="842564"/>
          </a:xfrm>
          <a:custGeom>
            <a:avLst/>
            <a:gdLst/>
            <a:ahLst/>
            <a:cxnLst/>
            <a:rect l="l" t="t" r="r" b="b"/>
            <a:pathLst>
              <a:path w="831840" h="842564">
                <a:moveTo>
                  <a:pt x="0" y="0"/>
                </a:moveTo>
                <a:lnTo>
                  <a:pt x="831840" y="0"/>
                </a:lnTo>
                <a:lnTo>
                  <a:pt x="831840" y="842565"/>
                </a:lnTo>
                <a:lnTo>
                  <a:pt x="0" y="8425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 rot="406692">
            <a:off x="-544143" y="525148"/>
            <a:ext cx="5017294" cy="3502983"/>
          </a:xfrm>
          <a:custGeom>
            <a:avLst/>
            <a:gdLst/>
            <a:ahLst/>
            <a:cxnLst/>
            <a:rect l="l" t="t" r="r" b="b"/>
            <a:pathLst>
              <a:path w="5017294" h="3502983">
                <a:moveTo>
                  <a:pt x="0" y="0"/>
                </a:moveTo>
                <a:lnTo>
                  <a:pt x="5017293" y="0"/>
                </a:lnTo>
                <a:lnTo>
                  <a:pt x="5017293" y="3502983"/>
                </a:lnTo>
                <a:lnTo>
                  <a:pt x="0" y="35029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 rot="587759">
            <a:off x="14083384" y="6573668"/>
            <a:ext cx="3882875" cy="4114800"/>
          </a:xfrm>
          <a:custGeom>
            <a:avLst/>
            <a:gdLst/>
            <a:ahLst/>
            <a:cxnLst/>
            <a:rect l="l" t="t" r="r" b="b"/>
            <a:pathLst>
              <a:path w="3882875" h="4114800">
                <a:moveTo>
                  <a:pt x="0" y="0"/>
                </a:moveTo>
                <a:lnTo>
                  <a:pt x="3882875" y="0"/>
                </a:lnTo>
                <a:lnTo>
                  <a:pt x="3882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TextBox 8"/>
          <p:cNvSpPr txBox="1"/>
          <p:nvPr/>
        </p:nvSpPr>
        <p:spPr>
          <a:xfrm>
            <a:off x="5606625" y="2267114"/>
            <a:ext cx="7074749" cy="125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38"/>
              </a:lnSpc>
              <a:spcBef>
                <a:spcPct val="0"/>
              </a:spcBef>
            </a:pPr>
            <a:r>
              <a:rPr lang="en-US" sz="8198" b="1">
                <a:solidFill>
                  <a:srgbClr val="144778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How It Works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63481" y="5000625"/>
            <a:ext cx="10366361" cy="33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8"/>
              </a:lnSpc>
            </a:pPr>
            <a:r>
              <a:rPr lang="en-US" sz="3294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•Collect user activity: watch history, clicks, searches</a:t>
            </a:r>
          </a:p>
          <a:p>
            <a:pPr algn="ctr">
              <a:lnSpc>
                <a:spcPts val="5468"/>
              </a:lnSpc>
            </a:pPr>
            <a:r>
              <a:rPr lang="en-US" sz="3294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•Machine learning analyzes patterns</a:t>
            </a:r>
          </a:p>
          <a:p>
            <a:pPr algn="ctr">
              <a:lnSpc>
                <a:spcPts val="5468"/>
              </a:lnSpc>
            </a:pPr>
            <a:r>
              <a:rPr lang="en-US" sz="3294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•Generate personalized recommendations</a:t>
            </a:r>
          </a:p>
          <a:p>
            <a:pPr algn="ctr">
              <a:lnSpc>
                <a:spcPts val="5468"/>
              </a:lnSpc>
            </a:pPr>
            <a:endParaRPr lang="en-US" sz="3294" b="1">
              <a:solidFill>
                <a:srgbClr val="000000"/>
              </a:solidFill>
              <a:latin typeface="Comic Sans Bold"/>
              <a:ea typeface="Comic Sans Bold"/>
              <a:cs typeface="Comic Sans Bold"/>
              <a:sym typeface="Comic San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248139">
            <a:off x="13414607" y="7570223"/>
            <a:ext cx="5921523" cy="3865139"/>
          </a:xfrm>
          <a:custGeom>
            <a:avLst/>
            <a:gdLst/>
            <a:ahLst/>
            <a:cxnLst/>
            <a:rect l="l" t="t" r="r" b="b"/>
            <a:pathLst>
              <a:path w="5921523" h="3865139">
                <a:moveTo>
                  <a:pt x="0" y="0"/>
                </a:moveTo>
                <a:lnTo>
                  <a:pt x="5921523" y="0"/>
                </a:lnTo>
                <a:lnTo>
                  <a:pt x="5921523" y="3865140"/>
                </a:lnTo>
                <a:lnTo>
                  <a:pt x="0" y="3865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rot="9607066">
            <a:off x="5124323" y="-1245175"/>
            <a:ext cx="5226998" cy="3411804"/>
          </a:xfrm>
          <a:custGeom>
            <a:avLst/>
            <a:gdLst/>
            <a:ahLst/>
            <a:cxnLst/>
            <a:rect l="l" t="t" r="r" b="b"/>
            <a:pathLst>
              <a:path w="5226998" h="3411804">
                <a:moveTo>
                  <a:pt x="0" y="0"/>
                </a:moveTo>
                <a:lnTo>
                  <a:pt x="5226998" y="0"/>
                </a:lnTo>
                <a:lnTo>
                  <a:pt x="5226998" y="3411804"/>
                </a:lnTo>
                <a:lnTo>
                  <a:pt x="0" y="34118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1683170" y="7651688"/>
            <a:ext cx="831840" cy="842564"/>
          </a:xfrm>
          <a:custGeom>
            <a:avLst/>
            <a:gdLst/>
            <a:ahLst/>
            <a:cxnLst/>
            <a:rect l="l" t="t" r="r" b="b"/>
            <a:pathLst>
              <a:path w="831840" h="842564">
                <a:moveTo>
                  <a:pt x="0" y="0"/>
                </a:moveTo>
                <a:lnTo>
                  <a:pt x="831840" y="0"/>
                </a:lnTo>
                <a:lnTo>
                  <a:pt x="831840" y="842564"/>
                </a:lnTo>
                <a:lnTo>
                  <a:pt x="0" y="842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15426648" y="1651834"/>
            <a:ext cx="831840" cy="842564"/>
          </a:xfrm>
          <a:custGeom>
            <a:avLst/>
            <a:gdLst/>
            <a:ahLst/>
            <a:cxnLst/>
            <a:rect l="l" t="t" r="r" b="b"/>
            <a:pathLst>
              <a:path w="831840" h="842564">
                <a:moveTo>
                  <a:pt x="0" y="0"/>
                </a:moveTo>
                <a:lnTo>
                  <a:pt x="831840" y="0"/>
                </a:lnTo>
                <a:lnTo>
                  <a:pt x="831840" y="842564"/>
                </a:lnTo>
                <a:lnTo>
                  <a:pt x="0" y="842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5269719" y="7320218"/>
            <a:ext cx="4444052" cy="3223958"/>
          </a:xfrm>
          <a:custGeom>
            <a:avLst/>
            <a:gdLst/>
            <a:ahLst/>
            <a:cxnLst/>
            <a:rect l="l" t="t" r="r" b="b"/>
            <a:pathLst>
              <a:path w="4444052" h="3223958">
                <a:moveTo>
                  <a:pt x="0" y="0"/>
                </a:moveTo>
                <a:lnTo>
                  <a:pt x="4444052" y="0"/>
                </a:lnTo>
                <a:lnTo>
                  <a:pt x="4444052" y="3223958"/>
                </a:lnTo>
                <a:lnTo>
                  <a:pt x="0" y="32239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 rot="814762">
            <a:off x="-695083" y="530066"/>
            <a:ext cx="4099891" cy="3086100"/>
          </a:xfrm>
          <a:custGeom>
            <a:avLst/>
            <a:gdLst/>
            <a:ahLst/>
            <a:cxnLst/>
            <a:rect l="l" t="t" r="r" b="b"/>
            <a:pathLst>
              <a:path w="4099891" h="3086100">
                <a:moveTo>
                  <a:pt x="0" y="0"/>
                </a:moveTo>
                <a:lnTo>
                  <a:pt x="4099891" y="0"/>
                </a:lnTo>
                <a:lnTo>
                  <a:pt x="4099891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TextBox 8"/>
          <p:cNvSpPr txBox="1"/>
          <p:nvPr/>
        </p:nvSpPr>
        <p:spPr>
          <a:xfrm>
            <a:off x="2830715" y="2334705"/>
            <a:ext cx="12119628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8"/>
              </a:lnSpc>
              <a:spcBef>
                <a:spcPct val="0"/>
              </a:spcBef>
            </a:pPr>
            <a:r>
              <a:rPr lang="en-US" sz="6799" b="1">
                <a:solidFill>
                  <a:srgbClr val="144778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Two Main Recommendation Methods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50996" y="4933065"/>
            <a:ext cx="14023580" cy="3603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0"/>
              </a:lnSpc>
            </a:pPr>
            <a:r>
              <a:rPr lang="en-US" sz="4356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•Content-Based: suggest similar items</a:t>
            </a:r>
          </a:p>
          <a:p>
            <a:pPr algn="l">
              <a:lnSpc>
                <a:spcPts val="7230"/>
              </a:lnSpc>
            </a:pPr>
            <a:r>
              <a:rPr lang="en-US" sz="4356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•Collaborative Filtering: suggest what similar users liked</a:t>
            </a:r>
          </a:p>
          <a:p>
            <a:pPr algn="l">
              <a:lnSpc>
                <a:spcPts val="7230"/>
              </a:lnSpc>
            </a:pPr>
            <a:endParaRPr lang="en-US" sz="4356" b="1">
              <a:solidFill>
                <a:srgbClr val="000000"/>
              </a:solidFill>
              <a:latin typeface="Comic Sans Bold"/>
              <a:ea typeface="Comic Sans Bold"/>
              <a:cs typeface="Comic Sans Bold"/>
              <a:sym typeface="Comic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43249" y="3082276"/>
            <a:ext cx="7427644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38"/>
              </a:lnSpc>
              <a:spcBef>
                <a:spcPct val="0"/>
              </a:spcBef>
            </a:pPr>
            <a:r>
              <a:rPr lang="en-US" sz="8198" b="1">
                <a:solidFill>
                  <a:srgbClr val="144778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Why It Matters</a:t>
            </a:r>
          </a:p>
        </p:txBody>
      </p:sp>
      <p:sp>
        <p:nvSpPr>
          <p:cNvPr id="3" name="Freeform 3"/>
          <p:cNvSpPr/>
          <p:nvPr/>
        </p:nvSpPr>
        <p:spPr>
          <a:xfrm rot="10169055">
            <a:off x="6959048" y="-1281236"/>
            <a:ext cx="5921523" cy="3865139"/>
          </a:xfrm>
          <a:custGeom>
            <a:avLst/>
            <a:gdLst/>
            <a:ahLst/>
            <a:cxnLst/>
            <a:rect l="l" t="t" r="r" b="b"/>
            <a:pathLst>
              <a:path w="5921523" h="3865139">
                <a:moveTo>
                  <a:pt x="0" y="0"/>
                </a:moveTo>
                <a:lnTo>
                  <a:pt x="5921523" y="0"/>
                </a:lnTo>
                <a:lnTo>
                  <a:pt x="5921523" y="3865139"/>
                </a:lnTo>
                <a:lnTo>
                  <a:pt x="0" y="3865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rot="-694051">
            <a:off x="14874423" y="8254863"/>
            <a:ext cx="4769753" cy="3113348"/>
          </a:xfrm>
          <a:custGeom>
            <a:avLst/>
            <a:gdLst/>
            <a:ahLst/>
            <a:cxnLst/>
            <a:rect l="l" t="t" r="r" b="b"/>
            <a:pathLst>
              <a:path w="4769753" h="3113348">
                <a:moveTo>
                  <a:pt x="0" y="0"/>
                </a:moveTo>
                <a:lnTo>
                  <a:pt x="4769754" y="0"/>
                </a:lnTo>
                <a:lnTo>
                  <a:pt x="4769754" y="3113348"/>
                </a:lnTo>
                <a:lnTo>
                  <a:pt x="0" y="31133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8104718" y="8837018"/>
            <a:ext cx="831840" cy="842564"/>
          </a:xfrm>
          <a:custGeom>
            <a:avLst/>
            <a:gdLst/>
            <a:ahLst/>
            <a:cxnLst/>
            <a:rect l="l" t="t" r="r" b="b"/>
            <a:pathLst>
              <a:path w="831840" h="842564">
                <a:moveTo>
                  <a:pt x="0" y="0"/>
                </a:moveTo>
                <a:lnTo>
                  <a:pt x="831841" y="0"/>
                </a:lnTo>
                <a:lnTo>
                  <a:pt x="831841" y="842564"/>
                </a:lnTo>
                <a:lnTo>
                  <a:pt x="0" y="842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16034091" y="1685518"/>
            <a:ext cx="831840" cy="842564"/>
          </a:xfrm>
          <a:custGeom>
            <a:avLst/>
            <a:gdLst/>
            <a:ahLst/>
            <a:cxnLst/>
            <a:rect l="l" t="t" r="r" b="b"/>
            <a:pathLst>
              <a:path w="831840" h="842564">
                <a:moveTo>
                  <a:pt x="0" y="0"/>
                </a:moveTo>
                <a:lnTo>
                  <a:pt x="831840" y="0"/>
                </a:lnTo>
                <a:lnTo>
                  <a:pt x="831840" y="842564"/>
                </a:lnTo>
                <a:lnTo>
                  <a:pt x="0" y="842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>
            <a:off x="11620379" y="2528082"/>
            <a:ext cx="4137944" cy="5865642"/>
          </a:xfrm>
          <a:custGeom>
            <a:avLst/>
            <a:gdLst/>
            <a:ahLst/>
            <a:cxnLst/>
            <a:rect l="l" t="t" r="r" b="b"/>
            <a:pathLst>
              <a:path w="4137944" h="5865642">
                <a:moveTo>
                  <a:pt x="0" y="0"/>
                </a:moveTo>
                <a:lnTo>
                  <a:pt x="4137944" y="0"/>
                </a:lnTo>
                <a:lnTo>
                  <a:pt x="4137944" y="5865642"/>
                </a:lnTo>
                <a:lnTo>
                  <a:pt x="0" y="58656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TextBox 8"/>
          <p:cNvSpPr txBox="1"/>
          <p:nvPr/>
        </p:nvSpPr>
        <p:spPr>
          <a:xfrm>
            <a:off x="796406" y="5099426"/>
            <a:ext cx="11555043" cy="3560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3457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•Major application of AI and IT</a:t>
            </a:r>
          </a:p>
          <a:p>
            <a:pPr algn="l">
              <a:lnSpc>
                <a:spcPts val="5739"/>
              </a:lnSpc>
            </a:pPr>
            <a:r>
              <a:rPr lang="en-US" sz="3457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•Improves user experience</a:t>
            </a:r>
          </a:p>
          <a:p>
            <a:pPr algn="l">
              <a:lnSpc>
                <a:spcPts val="5739"/>
              </a:lnSpc>
            </a:pPr>
            <a:r>
              <a:rPr lang="en-US" sz="3457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•Used across streaming, shopping, and social platforms</a:t>
            </a:r>
          </a:p>
          <a:p>
            <a:pPr algn="l">
              <a:lnSpc>
                <a:spcPts val="5739"/>
              </a:lnSpc>
            </a:pPr>
            <a:endParaRPr lang="en-US" sz="3457" b="1">
              <a:solidFill>
                <a:srgbClr val="000000"/>
              </a:solidFill>
              <a:latin typeface="Comic Sans Bold"/>
              <a:ea typeface="Comic Sans Bold"/>
              <a:cs typeface="Comic Sans Bold"/>
              <a:sym typeface="Comic Sans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216474">
            <a:off x="14075776" y="-340813"/>
            <a:ext cx="5921523" cy="3865139"/>
          </a:xfrm>
          <a:custGeom>
            <a:avLst/>
            <a:gdLst/>
            <a:ahLst/>
            <a:cxnLst/>
            <a:rect l="l" t="t" r="r" b="b"/>
            <a:pathLst>
              <a:path w="5921523" h="3865139">
                <a:moveTo>
                  <a:pt x="0" y="0"/>
                </a:moveTo>
                <a:lnTo>
                  <a:pt x="5921523" y="0"/>
                </a:lnTo>
                <a:lnTo>
                  <a:pt x="5921523" y="3865139"/>
                </a:lnTo>
                <a:lnTo>
                  <a:pt x="0" y="3865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rot="1936199">
            <a:off x="-1800462" y="6698498"/>
            <a:ext cx="5921523" cy="3865139"/>
          </a:xfrm>
          <a:custGeom>
            <a:avLst/>
            <a:gdLst/>
            <a:ahLst/>
            <a:cxnLst/>
            <a:rect l="l" t="t" r="r" b="b"/>
            <a:pathLst>
              <a:path w="5921523" h="3865139">
                <a:moveTo>
                  <a:pt x="0" y="0"/>
                </a:moveTo>
                <a:lnTo>
                  <a:pt x="5921523" y="0"/>
                </a:lnTo>
                <a:lnTo>
                  <a:pt x="5921523" y="3865139"/>
                </a:lnTo>
                <a:lnTo>
                  <a:pt x="0" y="3865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14122315" y="2869459"/>
            <a:ext cx="831840" cy="842564"/>
          </a:xfrm>
          <a:custGeom>
            <a:avLst/>
            <a:gdLst/>
            <a:ahLst/>
            <a:cxnLst/>
            <a:rect l="l" t="t" r="r" b="b"/>
            <a:pathLst>
              <a:path w="831840" h="842564">
                <a:moveTo>
                  <a:pt x="0" y="0"/>
                </a:moveTo>
                <a:lnTo>
                  <a:pt x="831840" y="0"/>
                </a:lnTo>
                <a:lnTo>
                  <a:pt x="831840" y="842564"/>
                </a:lnTo>
                <a:lnTo>
                  <a:pt x="0" y="842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3505053" y="6015364"/>
            <a:ext cx="831840" cy="842564"/>
          </a:xfrm>
          <a:custGeom>
            <a:avLst/>
            <a:gdLst/>
            <a:ahLst/>
            <a:cxnLst/>
            <a:rect l="l" t="t" r="r" b="b"/>
            <a:pathLst>
              <a:path w="831840" h="842564">
                <a:moveTo>
                  <a:pt x="0" y="0"/>
                </a:moveTo>
                <a:lnTo>
                  <a:pt x="831840" y="0"/>
                </a:lnTo>
                <a:lnTo>
                  <a:pt x="831840" y="842565"/>
                </a:lnTo>
                <a:lnTo>
                  <a:pt x="0" y="8425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 rot="1098078">
            <a:off x="-210417" y="527827"/>
            <a:ext cx="3852949" cy="4114800"/>
          </a:xfrm>
          <a:custGeom>
            <a:avLst/>
            <a:gdLst/>
            <a:ahLst/>
            <a:cxnLst/>
            <a:rect l="l" t="t" r="r" b="b"/>
            <a:pathLst>
              <a:path w="3852949" h="4114800">
                <a:moveTo>
                  <a:pt x="0" y="0"/>
                </a:moveTo>
                <a:lnTo>
                  <a:pt x="3852949" y="0"/>
                </a:lnTo>
                <a:lnTo>
                  <a:pt x="38529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 rot="-573284">
            <a:off x="13949388" y="6320880"/>
            <a:ext cx="4025023" cy="4114800"/>
          </a:xfrm>
          <a:custGeom>
            <a:avLst/>
            <a:gdLst/>
            <a:ahLst/>
            <a:cxnLst/>
            <a:rect l="l" t="t" r="r" b="b"/>
            <a:pathLst>
              <a:path w="4025023" h="4114800">
                <a:moveTo>
                  <a:pt x="0" y="0"/>
                </a:moveTo>
                <a:lnTo>
                  <a:pt x="4025023" y="0"/>
                </a:lnTo>
                <a:lnTo>
                  <a:pt x="40250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TextBox 8"/>
          <p:cNvSpPr txBox="1"/>
          <p:nvPr/>
        </p:nvSpPr>
        <p:spPr>
          <a:xfrm>
            <a:off x="2452045" y="3538807"/>
            <a:ext cx="13383911" cy="4990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38"/>
              </a:lnSpc>
            </a:pPr>
            <a:r>
              <a:rPr lang="en-US" sz="8198" b="1">
                <a:solidFill>
                  <a:srgbClr val="144778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Data + Algorithms + AI </a:t>
            </a:r>
          </a:p>
          <a:p>
            <a:pPr algn="ctr">
              <a:lnSpc>
                <a:spcPts val="9838"/>
              </a:lnSpc>
            </a:pPr>
            <a:r>
              <a:rPr lang="en-US" sz="8198" b="1">
                <a:solidFill>
                  <a:srgbClr val="144778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=</a:t>
            </a:r>
          </a:p>
          <a:p>
            <a:pPr algn="ctr">
              <a:lnSpc>
                <a:spcPts val="9838"/>
              </a:lnSpc>
            </a:pPr>
            <a:r>
              <a:rPr lang="en-US" sz="8198" b="1">
                <a:solidFill>
                  <a:srgbClr val="144778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Recommendations</a:t>
            </a:r>
          </a:p>
          <a:p>
            <a:pPr algn="ctr">
              <a:lnSpc>
                <a:spcPts val="9838"/>
              </a:lnSpc>
              <a:spcBef>
                <a:spcPct val="0"/>
              </a:spcBef>
            </a:pPr>
            <a:endParaRPr lang="en-US" sz="8198" b="1">
              <a:solidFill>
                <a:srgbClr val="144778"/>
              </a:solidFill>
              <a:latin typeface="Milk Tea Font TH Bold"/>
              <a:ea typeface="Milk Tea Font TH Bold"/>
              <a:cs typeface="Milk Tea Font TH Bold"/>
              <a:sym typeface="Milk Tea Font TH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20893" y="2106800"/>
            <a:ext cx="6129118" cy="6073399"/>
          </a:xfrm>
          <a:custGeom>
            <a:avLst/>
            <a:gdLst/>
            <a:ahLst/>
            <a:cxnLst/>
            <a:rect l="l" t="t" r="r" b="b"/>
            <a:pathLst>
              <a:path w="6129118" h="6073399">
                <a:moveTo>
                  <a:pt x="0" y="0"/>
                </a:moveTo>
                <a:lnTo>
                  <a:pt x="6129118" y="0"/>
                </a:lnTo>
                <a:lnTo>
                  <a:pt x="6129118" y="6073400"/>
                </a:lnTo>
                <a:lnTo>
                  <a:pt x="0" y="6073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421524" y="641808"/>
            <a:ext cx="9498285" cy="375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38"/>
              </a:lnSpc>
              <a:spcBef>
                <a:spcPct val="0"/>
              </a:spcBef>
            </a:pPr>
            <a:r>
              <a:rPr lang="en-US" sz="8198" b="1">
                <a:solidFill>
                  <a:srgbClr val="144778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The Future of Recommendation System?</a:t>
            </a:r>
          </a:p>
        </p:txBody>
      </p:sp>
      <p:sp>
        <p:nvSpPr>
          <p:cNvPr id="4" name="Freeform 4"/>
          <p:cNvSpPr/>
          <p:nvPr/>
        </p:nvSpPr>
        <p:spPr>
          <a:xfrm rot="10169055">
            <a:off x="6959048" y="-1281236"/>
            <a:ext cx="5921523" cy="3865139"/>
          </a:xfrm>
          <a:custGeom>
            <a:avLst/>
            <a:gdLst/>
            <a:ahLst/>
            <a:cxnLst/>
            <a:rect l="l" t="t" r="r" b="b"/>
            <a:pathLst>
              <a:path w="5921523" h="3865139">
                <a:moveTo>
                  <a:pt x="0" y="0"/>
                </a:moveTo>
                <a:lnTo>
                  <a:pt x="5921523" y="0"/>
                </a:lnTo>
                <a:lnTo>
                  <a:pt x="5921523" y="3865139"/>
                </a:lnTo>
                <a:lnTo>
                  <a:pt x="0" y="3865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 rot="-694051">
            <a:off x="14874423" y="8254863"/>
            <a:ext cx="4769753" cy="3113348"/>
          </a:xfrm>
          <a:custGeom>
            <a:avLst/>
            <a:gdLst/>
            <a:ahLst/>
            <a:cxnLst/>
            <a:rect l="l" t="t" r="r" b="b"/>
            <a:pathLst>
              <a:path w="4769753" h="3113348">
                <a:moveTo>
                  <a:pt x="0" y="0"/>
                </a:moveTo>
                <a:lnTo>
                  <a:pt x="4769754" y="0"/>
                </a:lnTo>
                <a:lnTo>
                  <a:pt x="4769754" y="3113348"/>
                </a:lnTo>
                <a:lnTo>
                  <a:pt x="0" y="31133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8104718" y="8837018"/>
            <a:ext cx="831840" cy="842564"/>
          </a:xfrm>
          <a:custGeom>
            <a:avLst/>
            <a:gdLst/>
            <a:ahLst/>
            <a:cxnLst/>
            <a:rect l="l" t="t" r="r" b="b"/>
            <a:pathLst>
              <a:path w="831840" h="842564">
                <a:moveTo>
                  <a:pt x="0" y="0"/>
                </a:moveTo>
                <a:lnTo>
                  <a:pt x="831841" y="0"/>
                </a:lnTo>
                <a:lnTo>
                  <a:pt x="831841" y="842564"/>
                </a:lnTo>
                <a:lnTo>
                  <a:pt x="0" y="842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>
            <a:off x="16034091" y="1685518"/>
            <a:ext cx="831840" cy="842564"/>
          </a:xfrm>
          <a:custGeom>
            <a:avLst/>
            <a:gdLst/>
            <a:ahLst/>
            <a:cxnLst/>
            <a:rect l="l" t="t" r="r" b="b"/>
            <a:pathLst>
              <a:path w="831840" h="842564">
                <a:moveTo>
                  <a:pt x="0" y="0"/>
                </a:moveTo>
                <a:lnTo>
                  <a:pt x="831840" y="0"/>
                </a:lnTo>
                <a:lnTo>
                  <a:pt x="831840" y="842564"/>
                </a:lnTo>
                <a:lnTo>
                  <a:pt x="0" y="842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Freeform 8"/>
          <p:cNvSpPr/>
          <p:nvPr/>
        </p:nvSpPr>
        <p:spPr>
          <a:xfrm>
            <a:off x="6992726" y="3086100"/>
            <a:ext cx="4302548" cy="4114800"/>
          </a:xfrm>
          <a:custGeom>
            <a:avLst/>
            <a:gdLst/>
            <a:ahLst/>
            <a:cxnLst/>
            <a:rect l="l" t="t" r="r" b="b"/>
            <a:pathLst>
              <a:path w="4302548" h="4114800">
                <a:moveTo>
                  <a:pt x="0" y="0"/>
                </a:moveTo>
                <a:lnTo>
                  <a:pt x="4302548" y="0"/>
                </a:lnTo>
                <a:lnTo>
                  <a:pt x="4302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9" name="TextBox 9"/>
          <p:cNvSpPr txBox="1"/>
          <p:nvPr/>
        </p:nvSpPr>
        <p:spPr>
          <a:xfrm>
            <a:off x="189866" y="5497576"/>
            <a:ext cx="6802861" cy="1738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1"/>
              </a:lnSpc>
            </a:pPr>
            <a:r>
              <a:rPr lang="en-US" sz="286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AI and machine learning redefine analytics — creating intelligent systems that evolve with every insight.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248139">
            <a:off x="13414607" y="7570223"/>
            <a:ext cx="5921523" cy="3865139"/>
          </a:xfrm>
          <a:custGeom>
            <a:avLst/>
            <a:gdLst/>
            <a:ahLst/>
            <a:cxnLst/>
            <a:rect l="l" t="t" r="r" b="b"/>
            <a:pathLst>
              <a:path w="5921523" h="3865139">
                <a:moveTo>
                  <a:pt x="0" y="0"/>
                </a:moveTo>
                <a:lnTo>
                  <a:pt x="5921523" y="0"/>
                </a:lnTo>
                <a:lnTo>
                  <a:pt x="5921523" y="3865140"/>
                </a:lnTo>
                <a:lnTo>
                  <a:pt x="0" y="3865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rot="9607066">
            <a:off x="5124323" y="-1245175"/>
            <a:ext cx="5226998" cy="3411804"/>
          </a:xfrm>
          <a:custGeom>
            <a:avLst/>
            <a:gdLst/>
            <a:ahLst/>
            <a:cxnLst/>
            <a:rect l="l" t="t" r="r" b="b"/>
            <a:pathLst>
              <a:path w="5226998" h="3411804">
                <a:moveTo>
                  <a:pt x="0" y="0"/>
                </a:moveTo>
                <a:lnTo>
                  <a:pt x="5226998" y="0"/>
                </a:lnTo>
                <a:lnTo>
                  <a:pt x="5226998" y="3411804"/>
                </a:lnTo>
                <a:lnTo>
                  <a:pt x="0" y="34118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1683170" y="7651688"/>
            <a:ext cx="831840" cy="842564"/>
          </a:xfrm>
          <a:custGeom>
            <a:avLst/>
            <a:gdLst/>
            <a:ahLst/>
            <a:cxnLst/>
            <a:rect l="l" t="t" r="r" b="b"/>
            <a:pathLst>
              <a:path w="831840" h="842564">
                <a:moveTo>
                  <a:pt x="0" y="0"/>
                </a:moveTo>
                <a:lnTo>
                  <a:pt x="831840" y="0"/>
                </a:lnTo>
                <a:lnTo>
                  <a:pt x="831840" y="842564"/>
                </a:lnTo>
                <a:lnTo>
                  <a:pt x="0" y="842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15426648" y="1651834"/>
            <a:ext cx="831840" cy="842564"/>
          </a:xfrm>
          <a:custGeom>
            <a:avLst/>
            <a:gdLst/>
            <a:ahLst/>
            <a:cxnLst/>
            <a:rect l="l" t="t" r="r" b="b"/>
            <a:pathLst>
              <a:path w="831840" h="842564">
                <a:moveTo>
                  <a:pt x="0" y="0"/>
                </a:moveTo>
                <a:lnTo>
                  <a:pt x="831840" y="0"/>
                </a:lnTo>
                <a:lnTo>
                  <a:pt x="831840" y="842564"/>
                </a:lnTo>
                <a:lnTo>
                  <a:pt x="0" y="842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 rot="-660223">
            <a:off x="4150868" y="7673025"/>
            <a:ext cx="3829512" cy="2910429"/>
          </a:xfrm>
          <a:custGeom>
            <a:avLst/>
            <a:gdLst/>
            <a:ahLst/>
            <a:cxnLst/>
            <a:rect l="l" t="t" r="r" b="b"/>
            <a:pathLst>
              <a:path w="3829512" h="2910429">
                <a:moveTo>
                  <a:pt x="0" y="0"/>
                </a:moveTo>
                <a:lnTo>
                  <a:pt x="3829512" y="0"/>
                </a:lnTo>
                <a:lnTo>
                  <a:pt x="3829512" y="2910429"/>
                </a:lnTo>
                <a:lnTo>
                  <a:pt x="0" y="29104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 rot="1775708">
            <a:off x="-1114425" y="238748"/>
            <a:ext cx="4286250" cy="4114800"/>
          </a:xfrm>
          <a:custGeom>
            <a:avLst/>
            <a:gdLst/>
            <a:ahLst/>
            <a:cxnLst/>
            <a:rect l="l" t="t" r="r" b="b"/>
            <a:pathLst>
              <a:path w="4286250" h="411480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TextBox 8"/>
          <p:cNvSpPr txBox="1"/>
          <p:nvPr/>
        </p:nvSpPr>
        <p:spPr>
          <a:xfrm>
            <a:off x="5430178" y="3905250"/>
            <a:ext cx="8900881" cy="148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90"/>
              </a:lnSpc>
              <a:spcBef>
                <a:spcPct val="0"/>
              </a:spcBef>
            </a:pPr>
            <a:r>
              <a:rPr lang="en-US" sz="9825" b="1">
                <a:solidFill>
                  <a:srgbClr val="144778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Office PowerPoint</Application>
  <PresentationFormat>Custom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Comic Sans Bold</vt:lpstr>
      <vt:lpstr>Milk Tea Font TH Bold</vt:lpstr>
      <vt:lpstr>Arial</vt:lpstr>
      <vt:lpstr>Calibri</vt:lpstr>
      <vt:lpstr>Comic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Blue and Red Illustrated Data Analytics Presentation</dc:title>
  <dc:creator>HBP</dc:creator>
  <cp:lastModifiedBy>zarlasht najimzada</cp:lastModifiedBy>
  <cp:revision>1</cp:revision>
  <dcterms:created xsi:type="dcterms:W3CDTF">2006-08-16T00:00:00Z</dcterms:created>
  <dcterms:modified xsi:type="dcterms:W3CDTF">2026-06-13T19:53:30Z</dcterms:modified>
  <dc:identifier>DAHMehSgErA</dc:identifier>
</cp:coreProperties>
</file>